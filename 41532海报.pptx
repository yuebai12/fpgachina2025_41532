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1676565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 varScale="1">
        <p:scale>
          <a:sx n="90" d="100"/>
          <a:sy n="90" d="100"/>
        </p:scale>
        <p:origin x="51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3280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4255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3280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4255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3280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4255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3280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4255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3280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4255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3280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4255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3280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4255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3280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4255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98D6A8-22DA-4CFC-AA61-FFA3C3542D5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0A8970-340F-4734-A5BA-656F77B0B30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6DE77-F393-425F-B5C6-A733350DBF5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30C561-0074-4F63-A55C-330074E9321E}" type="slidenum">
              <a:rPr lang="en-US" smtClean="0"/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90500" y="190500"/>
            <a:ext cx="4492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[Public]</a:t>
            </a:r>
            <a:endParaRPr lang="en-US" sz="1000">
              <a:solidFill>
                <a:srgbClr val="008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2"/>
          <p:cNvSpPr txBox="1"/>
          <p:nvPr/>
        </p:nvSpPr>
        <p:spPr>
          <a:xfrm>
            <a:off x="179705" y="1778000"/>
            <a:ext cx="3778250" cy="4895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The "Guangyin Zhuanxin" (Radiance Imprinted in Seal-Script Heart) System takes the AMD Zynq-7020 SoC FPGA as its core, integrates AI large model technology, and through natural language processing and image recognition, automatically generates corresponding engraving patterns. 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It also accurately drives high-speed galvanometers and focusing lenses to control the 2D position of the laser beam on the workpiece surface, enabling fast and precise marking and pattern processing.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system uses AI large models for intelligent creative generation and FPGA hardware for high-precision motion control, forming an end-to-end solution with "intelligence, personalization, diversification."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 technical issues addressed: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Multimodal-Multimodel Collaboration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Data receiving and processing, AMD-Xilinx 7 series Zynq System on a Chip (SoC) devices.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2.Galvanometer-Based Laser Engraving and 3D Milling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Hardware-Level Real-Time Control and Motion Optimization 4.Hardware-Level Safety Protection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972" y="1093081"/>
            <a:ext cx="2795337" cy="465054"/>
          </a:xfrm>
          <a:solidFill>
            <a:srgbClr val="2F2F2F"/>
          </a:solidFill>
        </p:spPr>
        <p:txBody>
          <a:bodyPr>
            <a:norm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INTRODUCTION</a:t>
            </a:r>
            <a:endParaRPr lang="en-US" sz="1800" b="1" dirty="0">
              <a:solidFill>
                <a:schemeClr val="bg1"/>
              </a:solidFill>
              <a:latin typeface="Aharoni" panose="020F0502020204030204" pitchFamily="34" charset="0"/>
              <a:cs typeface="Aharon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2885" y="259715"/>
            <a:ext cx="678942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Title : 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Radiance Imprinted in Seal-Script Heart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" name="Title 1"/>
          <p:cNvSpPr txBox="1"/>
          <p:nvPr/>
        </p:nvSpPr>
        <p:spPr>
          <a:xfrm>
            <a:off x="7733160" y="2090674"/>
            <a:ext cx="411468" cy="3188991"/>
          </a:xfrm>
          <a:prstGeom prst="rect">
            <a:avLst/>
          </a:prstGeom>
          <a:solidFill>
            <a:srgbClr val="2F2F2F"/>
          </a:solidFill>
        </p:spPr>
        <p:txBody>
          <a:bodyPr vert="wordArtVert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sp>
        <p:nvSpPr>
          <p:cNvPr id="44" name="文本框 4"/>
          <p:cNvSpPr txBox="1"/>
          <p:nvPr/>
        </p:nvSpPr>
        <p:spPr>
          <a:xfrm>
            <a:off x="814185" y="3338476"/>
            <a:ext cx="1882140" cy="24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Typical application case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48" name="Straight Connector 47"/>
          <p:cNvCxnSpPr/>
          <p:nvPr/>
        </p:nvCxnSpPr>
        <p:spPr>
          <a:xfrm>
            <a:off x="6096000" y="259496"/>
            <a:ext cx="2213128" cy="165852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8309128" y="1905826"/>
            <a:ext cx="3659900" cy="1145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8309128" y="1918018"/>
            <a:ext cx="0" cy="462235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9241790" y="2155190"/>
            <a:ext cx="2432050" cy="19310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+mn-ea"/>
                <a:cs typeface="Calibri" panose="020F0502020204030204" charset="0"/>
              </a:rPr>
              <a:t>1.Software: Windows 10/11 (64-bit), Ubuntu 20.04 LTS; Python 3.8+, Node.js 14+; Chrome/Edge 90+; Baidu ERNIE API v4.0, Doubao Open API v2.0, OpenRouter protoco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+mn-ea"/>
              <a:cs typeface="Calibri" panose="020F05020202040302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+mn-ea"/>
                <a:cs typeface="Calibri" panose="020F0502020204030204" charset="0"/>
              </a:rPr>
              <a:t>2.Hardware: Xilinx Artix-7/Altera Cyclone IV FPGA; industrial XY galvo laser engraver (</a:t>
            </a: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+mn-ea"/>
                <a:cs typeface="Calibri" panose="020F0502020204030204" charset="0"/>
              </a:rPr>
              <a:t>±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+mn-ea"/>
                <a:cs typeface="Calibri" panose="020F0502020204030204" charset="0"/>
              </a:rPr>
              <a:t>0.01mm accuracy, 10W-30W); DC 24V power supply, USB-to-UART adapter (115200bps); acrylic, wood, thin metal (0.5mm-3mm).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+mn-ea"/>
              <a:cs typeface="Calibri" panose="020F0502020204030204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7811791" y="393657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811791" y="413140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7811791" y="4333639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7811791" y="4528458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I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7811791" y="4714497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7811791" y="491033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796923" y="2081612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C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7811791" y="227643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7811791" y="2478675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7811791" y="2673494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7811791" y="285953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7811791" y="3055369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I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7811791" y="323985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V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7811791" y="344075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96" name="文本框 4"/>
          <p:cNvSpPr txBox="1"/>
          <p:nvPr/>
        </p:nvSpPr>
        <p:spPr>
          <a:xfrm>
            <a:off x="10035854" y="1607120"/>
            <a:ext cx="2238705" cy="2208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On board test by AMD ZYNQ7020</a:t>
            </a:r>
            <a:endParaRPr kumimoji="0" lang="en-US" altLang="zh-CN" sz="10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8088456" y="504037"/>
            <a:ext cx="43343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1" i="0" u="none" strike="noStrike" kern="100" cap="none" spc="0" normalizeH="0" baseline="0" noProof="0" dirty="0">
                <a:ln>
                  <a:noFill/>
                </a:ln>
                <a:solidFill>
                  <a:srgbClr val="242021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OpenHW2025</a:t>
            </a:r>
            <a:endParaRPr kumimoji="0" lang="en-US" sz="20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4" name="Title 1"/>
          <p:cNvSpPr txBox="1"/>
          <p:nvPr/>
        </p:nvSpPr>
        <p:spPr>
          <a:xfrm>
            <a:off x="8507018" y="2052136"/>
            <a:ext cx="377933" cy="1678530"/>
          </a:xfrm>
          <a:prstGeom prst="rect">
            <a:avLst/>
          </a:prstGeom>
          <a:solidFill>
            <a:srgbClr val="2F2F2F"/>
          </a:solidFill>
        </p:spPr>
        <p:txBody>
          <a:bodyPr vert="wordArtVert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8555488" y="2200504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8555488" y="2389574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8555488" y="259241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8555488" y="281074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U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8555488" y="3017161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8555488" y="321837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pic>
        <p:nvPicPr>
          <p:cNvPr id="7" name="Picture 6" descr="A black background with a black square&#10;&#10;Description automatically generated with medium confiden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9288" y="721064"/>
            <a:ext cx="2111325" cy="11876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507095" y="4062095"/>
            <a:ext cx="3557270" cy="23183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Test Results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等线" panose="02010600030101010101" pitchFamily="2" charset="-122"/>
              <a:cs typeface="Calibri" panose="020F0502020204030204" charset="0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Functionality Test: Multi-modal inputs (text/speech/image) can stably generate engraving patterns. The output diversity of AI models (Baidu ERNIE, Doubao, etc.) 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等线" panose="02010600030101010101" pitchFamily="2" charset="-122"/>
              <a:cs typeface="Calibri" panose="020F0502020204030204" charset="0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Performance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等线" panose="02010600030101010101" pitchFamily="2" charset="-122"/>
              <a:cs typeface="Calibri" panose="020F0502020204030204" charset="0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AI pattern generation takes 3-8 seconds per image; engraving speed reaches 500mm/s.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等线" panose="02010600030101010101" pitchFamily="2" charset="-122"/>
              <a:cs typeface="Calibri" panose="020F0502020204030204" charset="0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Outlook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等线" panose="02010600030101010101" pitchFamily="2" charset="-122"/>
              <a:cs typeface="Calibri" panose="020F0502020204030204" charset="0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Deepen AI complex pattern generation; expand hardware format and material adaptation.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等线" panose="02010600030101010101" pitchFamily="2" charset="-122"/>
              <a:cs typeface="Calibri" panose="020F0502020204030204" charset="0"/>
              <a:sym typeface="+mn-ea"/>
            </a:endParaRPr>
          </a:p>
        </p:txBody>
      </p:sp>
      <p:sp>
        <p:nvSpPr>
          <p:cNvPr id="14" name="文本框 4"/>
          <p:cNvSpPr txBox="1"/>
          <p:nvPr>
            <p:custDataLst>
              <p:tags r:id="rId2"/>
            </p:custDataLst>
          </p:nvPr>
        </p:nvSpPr>
        <p:spPr>
          <a:xfrm>
            <a:off x="4341572" y="3386632"/>
            <a:ext cx="2695575" cy="24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System Architecture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4" name="矩形: 圆角 10"/>
          <p:cNvSpPr/>
          <p:nvPr/>
        </p:nvSpPr>
        <p:spPr>
          <a:xfrm>
            <a:off x="4209513" y="5567296"/>
            <a:ext cx="3288217" cy="101202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42 Stepper Motor: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1.Pairing TMC2209 driver; 1.8</a:t>
            </a:r>
            <a:r>
              <a:rPr kumimoji="0" lang="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°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step angle; 1/256 microstepping; 51200 microsteps/turn;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2.Based on state machine (5 states); Dual-axis linear control; Adopting Bresenham algorithm;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矩形: 圆角 11"/>
          <p:cNvSpPr/>
          <p:nvPr/>
        </p:nvSpPr>
        <p:spPr>
          <a:xfrm>
            <a:off x="4223004" y="3859322"/>
            <a:ext cx="3274725" cy="156650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TMC2209 Driver: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1.Converts coords (start_x/y, target_x/y) to stepping pulses via Bresenham line interpolation.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2.Outputs step_x/y pulses &amp; dir_x/y signals, sending motion control commands to TMC2209 driver.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3.Adjusts pulse frequency for motor speed, enables start/stop via motor_en, ensures hardware-level real-time performance &amp; micron-level accuracy.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Content Placeholder 2"/>
          <p:cNvSpPr txBox="1"/>
          <p:nvPr/>
        </p:nvSpPr>
        <p:spPr>
          <a:xfrm>
            <a:off x="1036793" y="1576933"/>
            <a:ext cx="2221767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/>
          <p:nvPr/>
        </p:nvSpPr>
        <p:spPr>
          <a:xfrm>
            <a:off x="7037169" y="-1643"/>
            <a:ext cx="3436277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ontent Placeholder 2"/>
          <p:cNvSpPr txBox="1"/>
          <p:nvPr/>
        </p:nvSpPr>
        <p:spPr>
          <a:xfrm>
            <a:off x="9882505" y="1393825"/>
            <a:ext cx="2086610" cy="2520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Physical Thumbnails of the Work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2"/>
          <p:cNvSpPr txBox="1"/>
          <p:nvPr/>
        </p:nvSpPr>
        <p:spPr>
          <a:xfrm>
            <a:off x="9241790" y="1948180"/>
            <a:ext cx="2447925" cy="2520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Work Test Platform Information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Content Placeholder 2"/>
          <p:cNvSpPr txBox="1"/>
          <p:nvPr/>
        </p:nvSpPr>
        <p:spPr>
          <a:xfrm>
            <a:off x="4649501" y="3331017"/>
            <a:ext cx="1446499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Content Placeholder 2"/>
          <p:cNvSpPr txBox="1"/>
          <p:nvPr/>
        </p:nvSpPr>
        <p:spPr>
          <a:xfrm>
            <a:off x="8832215" y="6421120"/>
            <a:ext cx="2493010" cy="2520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Test Results, Performance, Outlook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Content Placeholder 2"/>
          <p:cNvSpPr txBox="1"/>
          <p:nvPr/>
        </p:nvSpPr>
        <p:spPr>
          <a:xfrm>
            <a:off x="684530" y="4222115"/>
            <a:ext cx="2926080" cy="2520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Background, Brief Introduction &amp; Abstract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4760" y="259715"/>
            <a:ext cx="1703070" cy="111379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2750" y="1198880"/>
            <a:ext cx="3029585" cy="204089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80" y="3711575"/>
            <a:ext cx="3543300" cy="51054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2559</Words>
  <Application>WPS 演示</Application>
  <PresentationFormat>宽屏</PresentationFormat>
  <Paragraphs>93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Calibri</vt:lpstr>
      <vt:lpstr>Aharoni</vt:lpstr>
      <vt:lpstr>Calibri</vt:lpstr>
      <vt:lpstr>Times New Roman</vt:lpstr>
      <vt:lpstr>等线</vt:lpstr>
      <vt:lpstr>微软雅黑</vt:lpstr>
      <vt:lpstr>Aharoni</vt:lpstr>
      <vt:lpstr>Yu Gothic UI Semibold</vt:lpstr>
      <vt:lpstr>Arial Unicode MS</vt:lpstr>
      <vt:lpstr>Calibri Light</vt:lpstr>
      <vt:lpstr>Office Theme</vt:lpstr>
      <vt:lpstr>1_Office Theme</vt:lpstr>
      <vt:lpstr>INTRODUCTION</vt:lpstr>
    </vt:vector>
  </TitlesOfParts>
  <Company>AMD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Chen, Wen (Vicky)</dc:creator>
  <cp:lastModifiedBy>WPS_1663862570</cp:lastModifiedBy>
  <cp:revision>10</cp:revision>
  <dcterms:created xsi:type="dcterms:W3CDTF">2024-09-09T08:07:00Z</dcterms:created>
  <dcterms:modified xsi:type="dcterms:W3CDTF">2025-11-07T09:04:10Z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4C68336524B64314A21C32D6234E6B0A_13</vt:lpwstr>
  </property>
  <property fmtid="{D5CDD505-2E9C-101B-9397-08002B2CF9AE}" pid="3" name="KSOProductBuildVer">
    <vt:lpwstr>2052-12.1.0.23542</vt:lpwstr>
  </property>
</Properties>
</file>